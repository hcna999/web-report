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인사. 오늘은 개폐기류 납품검사에 쓰는 Web 프로그램을 소개하고, 제조사에서 쓰실 자체검사 프로그램 사용법까지 안내드립니다. 1시간 정도 예상합니다.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순서입니다. 3번과 4번이 제조사에서 실제로 쓰실 내용이라 시간을 가장 많이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지적이 아니라 구조의 문제였습니다. 기준이 종이에 있고 작성은 각자 엑셀에서 하니 어긋날 수밖에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메시지입니다. 품목별 시험항목, 판정기준, 발취수량, 업체별 주회로 저항 기준치까지 프로그램이 들고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검수용은 저희가 씁니다. 제조사에는 아래 두 개를 드립니다. 두 개는 짝이라 같이 쓰셔야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제조사 입장에서의 효과 세 가지입니다. 특히 3번, 불량 원인 기록이 이번에 새로 들어간 부분입니다.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보안 질문이 자주 나옵니다. 데이터가 밖으로 나가지 않는다는 점을 분명히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그림입니다. 다음 장부터 단계별로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업체를 고르는 이유가 중요합니다. 주회로 저항 기준치가 업체별로 다르기 때문에, 업체를 골라야 기준치가 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화면을 띄워 보여주면 좋습니다. 특히 기준 초과 시 붉게 바뀌는 것을 시연하세요.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장이 제일 중요합니다. 형식적으로 채우지 말고 실제 원인을 적어야 대시보드가 의미를 갖는다고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 파일을 어디에 보관할지는 각 사 규정에 따르시면 됩니다. 한전 제출 여부는 별도 안내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대시보드는 기록이 쌓여야 의미가 있습니다. 최소 한 분기 정도 모아야 추이가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D등급이면 발취가 3배로 늘어난다는 점, 그리고 소량 납품 시 상한이 걸린다는 점을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주기시험을 매번 내시는 업체가 있는데 그럴 필요 없습니다. 반대로 주기가 지났는데 안 내면 검수가 막힙니다.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28개 사 자료는 반영했습니다. 미제출 업체와 신규 형식에 대한 자료 요청이 이 장의 목적입니다.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질의응답 전에 미리 깔아두는 장입니다. 실제 질문이 나오면 여기로 돌아오세요.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연락처는 발표 전에 채워 주세요. 자료 제출 기한도 정해서 말씀하시면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4173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한국전력공사 전력기자재센터 · 개폐기팀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01952"/>
            <a:ext cx="9692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개폐기류 Web 성적서 프로그램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6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제조사 설명회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977639"/>
            <a:ext cx="8778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8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구매규격을 그대로 담은 검사 프로그램으로
무엇이 달라지고, 무엇을 준비해야 하는지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806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2026.  ·  발표자료 초안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오늘 말씀드릴 것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371600"/>
            <a:ext cx="512064" cy="512064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5024" y="135788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8928" y="1417320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수기 성적서의 한계와 반복되던 재작업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139696"/>
            <a:ext cx="512064" cy="512064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12598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무엇을 만들었나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8928" y="2185416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검수용 4종 · 제조사용 2종, 설치 없는 Web 프로그램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907792"/>
            <a:ext cx="512064" cy="512064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894076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제조사용 자체검사 프로그램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953512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입력부터 저장까지 — 오늘의 핵심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675888"/>
            <a:ext cx="512064" cy="512064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66217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제조사용 품질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372160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불량률·원인을 한 화면에서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4443984"/>
            <a:ext cx="512064" cy="512064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5024" y="4430268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검수용 프로그램에서 알아두실 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448970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발취수량 · 주기시험 · 주회로 저항 기준치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5212080"/>
            <a:ext cx="512064" cy="512064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519836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협조 요청 및 문의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5257800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자료 제출과 담당자 지정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같은 구매규격을 보고도 매번 다른 성적서가 올라왔습니다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46039" cy="20665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2029968"/>
            <a:ext cx="457200" cy="457200"/>
          </a:xfrm>
          <a:prstGeom prst="ellipse">
            <a:avLst/>
          </a:prstGeom>
          <a:solidFill>
            <a:srgbClr val="C0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2048256"/>
            <a:ext cx="4120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양식이 제각각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596896"/>
            <a:ext cx="41207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업체마다 엑셀 서식이 달라 검수자가 항목을 찾는 데만 시간이 걸림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45920"/>
            <a:ext cx="5346039" cy="20665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589623" y="2029968"/>
            <a:ext cx="457200" cy="457200"/>
          </a:xfrm>
          <a:prstGeom prst="ellipse">
            <a:avLst/>
          </a:prstGeom>
          <a:solidFill>
            <a:srgbClr val="C0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127" y="2048256"/>
            <a:ext cx="4120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기준을 잘못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93127" y="2596896"/>
            <a:ext cx="41207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개정된 판정기준이나 발취수량을 예전 것으로 적용해 재작성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33087"/>
            <a:ext cx="5346039" cy="20665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77824" y="4517135"/>
            <a:ext cx="457200" cy="457200"/>
          </a:xfrm>
          <a:prstGeom prst="ellipse">
            <a:avLst/>
          </a:prstGeom>
          <a:solidFill>
            <a:srgbClr val="C0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4535423"/>
            <a:ext cx="4120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기준치를 모른 채 시험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5084063"/>
            <a:ext cx="41207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주회로 저항처럼 업체별 기준치가 다른 항목에서 판정 혼선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4133087"/>
            <a:ext cx="5346039" cy="206654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589623" y="4517135"/>
            <a:ext cx="457200" cy="457200"/>
          </a:xfrm>
          <a:prstGeom prst="ellipse">
            <a:avLst/>
          </a:prstGeom>
          <a:solidFill>
            <a:srgbClr val="C024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4535423"/>
            <a:ext cx="41207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 원인이 남지 않음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5084063"/>
            <a:ext cx="4120743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같은 불량이 반복되어도 원인·조치 이력이 축적되지 않음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371600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해결 방향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65960"/>
            <a:ext cx="1060704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34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구매규격을 사람이 읽고 적용하는 대신,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프로그램 안에 넣었습니다.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4617720"/>
            <a:ext cx="251757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4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13248"/>
            <a:ext cx="25175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품목(구매규격)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13683" y="4617720"/>
            <a:ext cx="251757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4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203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3683" y="5413248"/>
            <a:ext cx="25175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시험항목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0439" y="4617720"/>
            <a:ext cx="251757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4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1,584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439" y="5413248"/>
            <a:ext cx="25175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업체별 주회로 저항 기준치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7195" y="4617720"/>
            <a:ext cx="2517571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44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195" y="5413248"/>
            <a:ext cx="25175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등록 제조사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무엇을 만들었나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검수용 4종 · 제조사용 2종 — 모두 설치 없이 브라우저에서 실행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27751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" y="1901952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한전 검수용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24942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검사자가 쓰는 프로그램</a:t>
            </a:r>
          </a:p>
        </p:txBody>
      </p:sp>
      <p:sp>
        <p:nvSpPr>
          <p:cNvPr id="7" name="Oval 6"/>
          <p:cNvSpPr/>
          <p:nvPr/>
        </p:nvSpPr>
        <p:spPr>
          <a:xfrm>
            <a:off x="877824" y="2980944"/>
            <a:ext cx="310896" cy="310896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5024" y="3008376"/>
            <a:ext cx="4230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성적서 작성 프로그램</a:t>
            </a:r>
          </a:p>
        </p:txBody>
      </p:sp>
      <p:sp>
        <p:nvSpPr>
          <p:cNvPr id="9" name="Oval 8"/>
          <p:cNvSpPr/>
          <p:nvPr/>
        </p:nvSpPr>
        <p:spPr>
          <a:xfrm>
            <a:off x="877824" y="3657600"/>
            <a:ext cx="310896" cy="310896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3685032"/>
            <a:ext cx="4230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품질관리 대시보드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" y="4334256"/>
            <a:ext cx="310896" cy="310896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35024" y="4361688"/>
            <a:ext cx="4230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발취점검 수량표 (자동산출용)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5010912"/>
            <a:ext cx="310896" cy="310896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5038344"/>
            <a:ext cx="423047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발취점검 수량표 (출력용)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596128"/>
            <a:ext cx="4705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제조사에는 배포하지 않습니다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7015" y="1645920"/>
            <a:ext cx="5327751" cy="4480560"/>
          </a:xfrm>
          <a:prstGeom prst="roundRect">
            <a:avLst>
              <a:gd name="adj" fmla="val 6000"/>
            </a:avLst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7911" y="1901952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제조사용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7911" y="2249424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배포해 드리는 프로그램</a:t>
            </a:r>
          </a:p>
        </p:txBody>
      </p:sp>
      <p:sp>
        <p:nvSpPr>
          <p:cNvPr id="19" name="Oval 18"/>
          <p:cNvSpPr/>
          <p:nvPr/>
        </p:nvSpPr>
        <p:spPr>
          <a:xfrm>
            <a:off x="6607911" y="3017520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8263" y="2999232"/>
            <a:ext cx="41390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자체검사 기록 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8263" y="3364992"/>
            <a:ext cx="41390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생산 로트별 검사결과·불량사유 입력</a:t>
            </a:r>
          </a:p>
        </p:txBody>
      </p:sp>
      <p:sp>
        <p:nvSpPr>
          <p:cNvPr id="22" name="Oval 21"/>
          <p:cNvSpPr/>
          <p:nvPr/>
        </p:nvSpPr>
        <p:spPr>
          <a:xfrm>
            <a:off x="6607911" y="418795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8263" y="4169664"/>
            <a:ext cx="4139031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대시보드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8263" y="4535424"/>
            <a:ext cx="41390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쌓인 기록으로 불량률·원인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7911" y="5376672"/>
            <a:ext cx="4705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두 프로그램은 한 묶음입니다.
기록 프로그램이 저장한 파일을 대시보드가 읽습니다.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제조사에 무엇이 달라지나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같은 기준을 같은 화면에서 보게 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3442106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59536" y="1956816"/>
            <a:ext cx="475488" cy="475488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615184"/>
            <a:ext cx="285689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검수 기준을 미리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456432"/>
            <a:ext cx="285689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검수에 쓰는 것과 같은 품목·시험항목·판정기준을 생산 단계에서 그대로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5212080"/>
            <a:ext cx="28568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발취수량과 주기시험 도래 여부까지 동일 로직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4794" y="1645920"/>
            <a:ext cx="3442106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67402" y="1956816"/>
            <a:ext cx="475488" cy="475488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402" y="2615184"/>
            <a:ext cx="285689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자체검사 기록이 남음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402" y="3456432"/>
            <a:ext cx="285689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로트별 검사수량·불량수량·측정값을 입력하면 파일 하나로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02" y="5212080"/>
            <a:ext cx="28568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엑셀 서식을 매번 맞출 필요 없음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2660" y="1645920"/>
            <a:ext cx="3442106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475268" y="1956816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5268" y="2615184"/>
            <a:ext cx="285689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 원인이 쌓임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5268" y="3456432"/>
            <a:ext cx="285689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5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불량 판정 시 유형·현상·원인·조치·재발방지를 함께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5268" y="5212080"/>
            <a:ext cx="28568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대시보드에서 반복 불량과 미조치 건을 바로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어떻게 실행하나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설치·로그인·인터넷 연결 모두 필요 없습니다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2775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4705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웹 주소로 접속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14016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6B6"/>
                </a:solidFill>
                <a:latin typeface="Consolas"/>
                <a:ea typeface="Consolas"/>
                <a:cs typeface="Consolas"/>
              </a:rPr>
              <a:t>hcna999.github.io/Web-Report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89504"/>
            <a:ext cx="47059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브라우저에서 바로 실행. 항상 최신판.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7015" y="1645920"/>
            <a:ext cx="5327751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07911" y="1920240"/>
            <a:ext cx="4705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파일로 받아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7911" y="2414016"/>
            <a:ext cx="4705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00A6B6"/>
                </a:solidFill>
                <a:latin typeface="Consolas"/>
                <a:ea typeface="Consolas"/>
                <a:cs typeface="Consolas"/>
              </a:rPr>
              <a:t>개폐기류_제조사_자체검사패키지.zip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7911" y="2889504"/>
            <a:ext cx="4705959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압축을 풀고 HTML 파일을 더블클릭. 인터넷 없이도 동작.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462272"/>
            <a:ext cx="11057839" cy="1783080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4700016"/>
            <a:ext cx="29260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알아두실 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193792"/>
            <a:ext cx="1032631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3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입력하신 내용은 회사 PC 브라우저에만 저장됩니다. 한전으로 자동 전송되지 않습니다.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권장 브라우저는 Chrome 또는 Edge이며, Internet Explorer에서는 동작하지 않습니다.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자체검사 기록 프로그램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기본정보 → 시험단계별 입력 → 요약 → 저장, 네 걸음이면 끝납니다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2517571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578608"/>
            <a:ext cx="19689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기본정보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63824"/>
            <a:ext cx="196893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업체·품목·형식
로트번호·생산수량
검사기간·담당자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2787" y="34015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3683" y="1645920"/>
            <a:ext cx="2517571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688003" y="1938528"/>
            <a:ext cx="457200" cy="45720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8003" y="2578608"/>
            <a:ext cx="19689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시험항목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8003" y="3163824"/>
            <a:ext cx="196893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단계별로 검사수량
불량수량·측정값
불량 시 상세사유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9543" y="34015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0439" y="1645920"/>
            <a:ext cx="2517571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534759" y="1938528"/>
            <a:ext cx="457200" cy="457200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4759" y="2578608"/>
            <a:ext cx="19689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결과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4759" y="3163824"/>
            <a:ext cx="196893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총 검사건수·불량률
항목별 집계
미입력 항목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299" y="340156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2600" b="1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195" y="1645920"/>
            <a:ext cx="2517571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381515" y="1938528"/>
            <a:ext cx="457200" cy="45720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1515" y="2578608"/>
            <a:ext cx="19689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515" y="3163824"/>
            <a:ext cx="1968931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5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XML(권장) 또는 JSON
대시보드로 바로 적재
인쇄·PDF도 가능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작성 중 내용은 자동으로 임시저장되어, 브라우저를 닫았다 열어도 「작성 이어하기」로 복구됩니다.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1단계 · 기본정보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업체와 품목을 고르면 해당 구매규격의 시험항목이 자동으로 구성됩니다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11057839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" y="191109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제조업체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41648" y="192938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목록에서 선택. 없으면 「기타(직접입력)」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27487" y="1938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597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품목(규격)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247802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에폭시 지상개폐기 등 10개 품목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27487" y="248716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0083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형식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302666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회로수·수동/자동이 여기서 결정됨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27487" y="30358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5570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제조 로트번호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57530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대시보드 집계의 기준 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27487" y="358444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0565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생산(검사대상) 수량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412394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항목별 검사수량의 기본값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27487" y="4133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65429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 시작일 / 종료일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467258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대시보드 기간 필터에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27487" y="46817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15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필수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20293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 담당자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522122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담당자별 집계에 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575157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제조번호 범위 · 비고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5769864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선택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2단계 · 시험항목 입력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한 줄에 한 항목 — 검사수량과 불량수량만 넣으면 불량률이 계산됩니다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1847088"/>
            <a:ext cx="2011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시험항목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249424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품목별 구매규격 그대로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54096" y="1847088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판정기준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4096" y="2249424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규격 조항과 기준값 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7296" y="184708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검사수량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2249424"/>
            <a:ext cx="1463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기본값 = 생산수량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4656" y="18470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불량수량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34656" y="2249424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0이면 양호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7696" y="1847088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7696" y="2249424"/>
            <a:ext cx="1097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자동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9296" y="18470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69296" y="2249424"/>
            <a:ext cx="1188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양호 / 불량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255264"/>
            <a:ext cx="384048" cy="384048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3236976"/>
            <a:ext cx="105091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측정값이 있는 항목은 자동으로 판정합니다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657600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부분방전·주회로 저항·도장두께처럼 기준이 있는 항목은 값만 넣으면 초과 칸이 붉게 표시되고 판정이 바뀝니다.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224528"/>
            <a:ext cx="384048" cy="384048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206240"/>
            <a:ext cx="105091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주회로 저항은 회사별 기준치가 뜹니다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626864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1단계에서 고른 업체의 기준치가 칸마다 「≤ 202」처럼 붙습니다. 미등록 자재는 값만 기록하고 직접 판정합니다.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5193792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5175504"/>
            <a:ext cx="1050919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불량수량을 넣으면 판정이 불량으로 바뀝니다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59612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반대로 불량으로 바꾸면 불량수량이 최소 1대로 잡힙니다. 불량률 0%로 집계되는 것을 막기 위해서입니다.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오늘의 핵심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불량을 고르면 상세사유 칸이 열립니다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64208"/>
            <a:ext cx="10789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검수에서는 양호·불량만 남지만, 자체검사에서는 원인까지 남겨야 다음 로트가 달라집니다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304288"/>
            <a:ext cx="5346039" cy="914400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2450592"/>
            <a:ext cx="488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불량유형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798064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자재·가공·조립·용접·도장/도금·절연물·기밀누설 등 14종에서 선택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383280"/>
            <a:ext cx="5346039" cy="914400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3529584"/>
            <a:ext cx="488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발생 공정 / 위치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877056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예) 조립3라인 / 부싱 접속부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62272"/>
            <a:ext cx="5346039" cy="914400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2" y="4608576"/>
            <a:ext cx="488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불량 현상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956048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예) B상 부분방전 32pC 측정 (기준 20pC 이하)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304288"/>
            <a:ext cx="5346039" cy="914400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16471" y="2450592"/>
            <a:ext cx="488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6471" y="2798064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예) 에폭시 몰딩 시 기포 혼입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727" y="3383280"/>
            <a:ext cx="5346039" cy="914400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16471" y="3529584"/>
            <a:ext cx="488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조치내용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6471" y="3877056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예) 해당 부싱 교체 후 재시험 15pC 확인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4462272"/>
            <a:ext cx="5346039" cy="914400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16471" y="4608576"/>
            <a:ext cx="488883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재발방지 대책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6471" y="4956048"/>
            <a:ext cx="488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예) 몰딩 진공시간 15분 → 25분 상향, 작업표준 개정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재발방지 대책이 비어 있는 건은 대시보드가 따로 모아 보여줍니다.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3~4단계 · 요약 확인과 저장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미입력 항목을 먼저 잡고, 파일 하나로 저장합니다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086605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" y="1901952"/>
            <a:ext cx="446481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3단계 · 결과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42032"/>
            <a:ext cx="44648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834640"/>
            <a:ext cx="44648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해당없음을 뺀 실제 검사 항목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310128"/>
            <a:ext cx="44648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총 검사건수 / 총 불량건수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602736"/>
            <a:ext cx="44648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항목별 수량의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078224"/>
            <a:ext cx="44648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370832"/>
            <a:ext cx="44648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불량건수 ÷ 검사건수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846320"/>
            <a:ext cx="446481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종합판정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138928"/>
            <a:ext cx="446481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미입력이 있으면 「작성중」으로 표시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9293" y="1645920"/>
            <a:ext cx="5605473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30189" y="1901952"/>
            <a:ext cx="498368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4단계 · 저장</a:t>
            </a:r>
          </a:p>
        </p:txBody>
      </p:sp>
      <p:sp>
        <p:nvSpPr>
          <p:cNvPr id="16" name="Oval 15"/>
          <p:cNvSpPr/>
          <p:nvPr/>
        </p:nvSpPr>
        <p:spPr>
          <a:xfrm>
            <a:off x="6330189" y="2560320"/>
            <a:ext cx="329184" cy="329184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7389" y="2551176"/>
            <a:ext cx="4508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검사기록 저장(XML)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7389" y="2871216"/>
            <a:ext cx="4508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권장. 한전 성적서와 같은 형식입니다.</a:t>
            </a:r>
          </a:p>
        </p:txBody>
      </p:sp>
      <p:sp>
        <p:nvSpPr>
          <p:cNvPr id="19" name="Oval 18"/>
          <p:cNvSpPr/>
          <p:nvPr/>
        </p:nvSpPr>
        <p:spPr>
          <a:xfrm>
            <a:off x="6330189" y="3456432"/>
            <a:ext cx="329184" cy="329184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7389" y="3447288"/>
            <a:ext cx="4508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검사기록 저장(JSON)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7389" y="3767328"/>
            <a:ext cx="4508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기존 방식. 그대로 쓰셔도 됩니다.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6330189" y="4352544"/>
            <a:ext cx="329184" cy="329184"/>
          </a:xfrm>
          <a:prstGeom prst="ellipse">
            <a:avLst/>
          </a:prstGeom>
          <a:solidFill>
            <a:srgbClr val="5B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7389" y="4343400"/>
            <a:ext cx="4508193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인쇄 /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7389" y="4663440"/>
            <a:ext cx="45081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사내 결재용 출력이 필요할 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0189" y="5175504"/>
            <a:ext cx="498368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B6478"/>
                </a:solidFill>
                <a:latin typeface="Consolas"/>
                <a:ea typeface="Consolas"/>
                <a:cs typeface="Consolas"/>
              </a:rPr>
              <a:t>파일명 예) 자체검사_○○전기_2601_20260312_EPOXY.xml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불러오기는 확장자를 가리지 않습니다. XML이든 JSON이든 「파일 불러오기」로 그대로 이어서 수정할 수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품질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저장한 파일을 모아 넣으면 로트가 쌓일수록 그림이 보입니다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1992111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86384" y="1883664"/>
            <a:ext cx="365760" cy="36576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395728"/>
            <a:ext cx="1553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종합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200400"/>
            <a:ext cx="15531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불량률 월별 추이
품목별 불량률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3359" y="1645920"/>
            <a:ext cx="1992111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3052815" y="1883664"/>
            <a:ext cx="365760" cy="365760"/>
          </a:xfrm>
          <a:prstGeom prst="ellipse">
            <a:avLst/>
          </a:prstGeom>
          <a:solidFill>
            <a:srgbClr val="00A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52815" y="2395728"/>
            <a:ext cx="1553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항목별 불량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2815" y="3200400"/>
            <a:ext cx="15531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어느 시험에서
많이 나오는지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9791" y="1645920"/>
            <a:ext cx="1992111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319247" y="1883664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9247" y="2395728"/>
            <a:ext cx="1553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 원인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9247" y="3200400"/>
            <a:ext cx="15531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유형·공정별 분포
미조치 건 추출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6223" y="1645920"/>
            <a:ext cx="1992111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585679" y="1883664"/>
            <a:ext cx="365760" cy="365760"/>
          </a:xfrm>
          <a:prstGeom prst="ellipse">
            <a:avLst/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5679" y="2395728"/>
            <a:ext cx="1553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로트별 이력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5679" y="3200400"/>
            <a:ext cx="15531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로트 단위
생산·검사·불량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32655" y="1645920"/>
            <a:ext cx="1992111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852111" y="1883664"/>
            <a:ext cx="365760" cy="365760"/>
          </a:xfrm>
          <a:prstGeom prst="ellipse">
            <a:avLst/>
          </a:prstGeom>
          <a:solidFill>
            <a:srgbClr val="0A7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2111" y="2395728"/>
            <a:ext cx="1553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5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 상세대장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2111" y="3200400"/>
            <a:ext cx="155319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3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전체 불량 목록
CSV 내려받기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81728"/>
            <a:ext cx="11057839" cy="1207008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956048"/>
            <a:ext cx="1032631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500"/>
              </a:spcAft>
            </a:pPr>
            <a:r>
              <a:rPr sz="15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불량률은 두 가지로 보여드립니다.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검사건수 기준 — 항목별 검사수량 누계 대비 / 생산대수 대비 — 생산수량 대비. 같은 데이터라도 분모가 달라 숫자가 다릅니다.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검수에서 알아두실 점 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발취수량은 품질등급에 따라 배수가 달라집니다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2517571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41248" y="1993392"/>
            <a:ext cx="19689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0A7F45"/>
                </a:solidFill>
                <a:latin typeface="맑은 고딕"/>
                <a:ea typeface="맑은 고딕"/>
                <a:cs typeface="맑은 고딕"/>
              </a:rPr>
              <a:t>S ·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15184"/>
            <a:ext cx="19689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0.5배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3683" y="1645920"/>
            <a:ext cx="2517571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88003" y="1993392"/>
            <a:ext cx="19689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8003" y="2615184"/>
            <a:ext cx="19689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1배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0439" y="1645920"/>
            <a:ext cx="2517571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34759" y="1993392"/>
            <a:ext cx="19689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759" y="2615184"/>
            <a:ext cx="19689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2배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195" y="1645920"/>
            <a:ext cx="2517571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81515" y="1993392"/>
            <a:ext cx="19689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1515" y="2615184"/>
            <a:ext cx="19689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3배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95020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예) 상연결 접속재 시험 — 기준 10대당 1대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517136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77824" y="469087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납품 50대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6835" y="469087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B등급 5대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5847" y="469087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C등급 10대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4859" y="469087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D등급 15대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48656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DC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7824" y="542239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납품 2대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6835" y="542239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B등급 1대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542239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C등급 2대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4859" y="5422392"/>
            <a:ext cx="26090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D등급 2대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63056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발취수량은 납품수량을 넘지 않습니다. 납품 2대에 D등급이어도 3대가 아니라 2대입니다.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검수에서 알아두실 점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주기시험은 매 검수가 아니라 정해진 주기로 제출합니다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327751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59536" y="1883664"/>
            <a:ext cx="47425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가공개폐기류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603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강판 재질시험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907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공인시험기관 성적서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6503" y="25786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년 1회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1012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취부금구 도금시험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처내시험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503" y="332841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반기 1회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7015" y="1645920"/>
            <a:ext cx="5327751" cy="39776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9623" y="1883664"/>
            <a:ext cx="4742535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지중개폐기류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9623" y="256032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구조 및 외관검사(본체)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9623" y="29077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절연유 주입량·극간거리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16591" y="2578608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반기 1회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9623" y="331012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내한성 시험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9623" y="36576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부싱 및 접속재 · 처내시험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16591" y="3328416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반기 1회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9623" y="405993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강판 재질시험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9623" y="44074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공인시험기관 성적서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16591" y="4078224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년 1회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9623" y="480974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절연유 특성시험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623" y="515721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처내시험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6591" y="4828032"/>
            <a:ext cx="11155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45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반기 1회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925312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주기가 도래하면 검수 화면에서 해당 항목 테두리가 주황색으로 바뀝니다. 이전 로트에 제출하셨다면 로트번호와 날짜를 적어 주시면 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검수에서 알아두실 점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06424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주회로 저항은 회사별·형식별 기준치로 판정합니다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45920"/>
            <a:ext cx="5750076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7824" y="1920240"/>
            <a:ext cx="51282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기준치는 인정시험값이 아닙니다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42032"/>
            <a:ext cx="512828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50" b="0">
                <a:solidFill>
                  <a:srgbClr val="141C2B"/>
                </a:solidFill>
                <a:latin typeface="맑은 고딕"/>
                <a:ea typeface="맑은 고딕"/>
                <a:cs typeface="맑은 고딕"/>
              </a:rPr>
              <a:t>각 사가 제출한 자료의 기준치(인정시험값의 1.2배)를 품목·형식·단자쌍별로 등록해 두었습니다. 측정값이 기준치를 넘으면 해당 칸이 붉게 표시되고 판정이 불량으로 바뀝니다.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4535424"/>
            <a:ext cx="51282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3회로 기준치가 없던 품목은 4회로 기준치에서 4번 회로 조합을 뺀 값으로 산출해 넣었습니다.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2764" y="1645920"/>
            <a:ext cx="4942002" cy="3840480"/>
          </a:xfrm>
          <a:prstGeom prst="roundRect">
            <a:avLst>
              <a:gd name="adj" fmla="val 6000"/>
            </a:avLst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93660" y="1920240"/>
            <a:ext cx="43202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협조 요청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3660" y="2578608"/>
            <a:ext cx="2103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5800" b="1">
                <a:solidFill>
                  <a:srgbClr val="00A6B6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4444" y="3035808"/>
            <a:ext cx="256456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개 사 기준치 등록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3660" y="3895344"/>
            <a:ext cx="432021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기준치가 등록되지 않은 자재는 측정값만 기록되고 검사자가 직접 판정합니다. 미등록 품목이 있으시면 기준치 자료를 보내 주십시오.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06440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C02434"/>
                </a:solidFill>
                <a:latin typeface="맑은 고딕"/>
                <a:ea typeface="맑은 고딕"/>
                <a:cs typeface="맑은 고딕"/>
              </a:rPr>
              <a:t>형식이 늘거나 설계가 바뀌어 기준치가 달라지면 그때마다 알려 주셔야 검수에서 잘못 판정하지 않습니다.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1105783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4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자주 묻는 질문</a:t>
            </a:r>
          </a:p>
        </p:txBody>
      </p:sp>
      <p:sp>
        <p:nvSpPr>
          <p:cNvPr id="3" name="Oval 2"/>
          <p:cNvSpPr/>
          <p:nvPr/>
        </p:nvSpPr>
        <p:spPr>
          <a:xfrm>
            <a:off x="566928" y="1298448"/>
            <a:ext cx="365760" cy="36576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289304"/>
            <a:ext cx="10509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입력한 자료가 한전으로 자동 전송되나요?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82496"/>
            <a:ext cx="10234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아닙니다. 회사 PC 브라우저에만 저장되며, 파일을 직접 보내시기 전에는 전송되지 않습니다.</a:t>
            </a:r>
          </a:p>
        </p:txBody>
      </p:sp>
      <p:sp>
        <p:nvSpPr>
          <p:cNvPr id="6" name="Oval 5"/>
          <p:cNvSpPr/>
          <p:nvPr/>
        </p:nvSpPr>
        <p:spPr>
          <a:xfrm>
            <a:off x="566928" y="2286000"/>
            <a:ext cx="365760" cy="36576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76856"/>
            <a:ext cx="10509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인터넷이 안 되는 생산라인에서도 쓸 수 있나요?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10234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됩니다. 파일을 내려받아 두면 인터넷 없이 동작합니다. 단, 최신판 확인은 가끔 필요합니다.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273552"/>
            <a:ext cx="365760" cy="36576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64408"/>
            <a:ext cx="10509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작성 중에 브라우저를 닫으면 날아가나요?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10234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자동 임시저장됩니다. 다시 열면 「작성 이어하기」가 뜹니다. 다만 장기 보관은 파일로 저장해 두셔야 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261104"/>
            <a:ext cx="365760" cy="36576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10509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검수용 프로그램도 받을 수 있나요?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45152"/>
            <a:ext cx="10234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검수용은 배포하지 않습니다. 다만 시험항목·판정기준·발취수량은 제조사용에도 같은 기준이 들어 있습니다.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5248656"/>
            <a:ext cx="365760" cy="365760"/>
          </a:xfrm>
          <a:prstGeom prst="ellipse">
            <a:avLst/>
          </a:prstGeom>
          <a:solidFill>
            <a:srgbClr val="10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39512"/>
            <a:ext cx="105091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기존 사내 양식을 버려야 하나요?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632704"/>
            <a:ext cx="1023487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강제사항은 아닙니다. 다만 불량 원인 관리는 이 프로그램에 모으셔야 대시보드가 의미를 갖습니다.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마무리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협조 요청 사항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75104"/>
            <a:ext cx="11057839" cy="1024128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41248" y="2176272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9616" y="213969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주회로 저항 기준치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9616" y="2523744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미제출 업체 및 신규·변경 형식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78847" y="224942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제출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82112"/>
            <a:ext cx="11057839" cy="1024128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41248" y="3383280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3346704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프로그램 담당자 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9616" y="3730752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사내에서 이 프로그램을 쓰실 분 성함·연락처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8847" y="34564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회신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89120"/>
            <a:ext cx="11057839" cy="1024128"/>
          </a:xfrm>
          <a:prstGeom prst="roundRect">
            <a:avLst>
              <a:gd name="adj" fmla="val 6000"/>
            </a:avLst>
          </a:prstGeom>
          <a:solidFill>
            <a:srgbClr val="1B3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41248" y="4590288"/>
            <a:ext cx="475488" cy="475488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0294B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455371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자체검사 기록 시범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493776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다음 분기 생산분부터 로트 단위로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8847" y="46634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700" b="1">
                <a:solidFill>
                  <a:srgbClr val="E8A33D"/>
                </a:solidFill>
                <a:latin typeface="맑은 고딕"/>
                <a:ea typeface="맑은 고딕"/>
                <a:cs typeface="맑은 고딕"/>
              </a:rPr>
              <a:t>시행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97880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한국전력공사 전력기자재센터 개폐기팀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DCE7F5"/>
                </a:solidFill>
                <a:latin typeface="맑은 고딕"/>
                <a:ea typeface="맑은 고딕"/>
                <a:cs typeface="맑은 고딕"/>
              </a:rPr>
              <a:t>담당자 ○○○  ·  전화 000-0000-0000  ·  메일 0000@kepco.co.kr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57255" y="6382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5B6478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